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2"/>
  </p:notesMasterIdLst>
  <p:sldIdLst>
    <p:sldId id="256" r:id="rId2"/>
    <p:sldId id="261" r:id="rId3"/>
    <p:sldId id="283" r:id="rId4"/>
    <p:sldId id="285" r:id="rId5"/>
    <p:sldId id="287" r:id="rId6"/>
    <p:sldId id="279" r:id="rId7"/>
    <p:sldId id="309" r:id="rId8"/>
    <p:sldId id="304" r:id="rId9"/>
    <p:sldId id="301" r:id="rId10"/>
    <p:sldId id="295" r:id="rId11"/>
    <p:sldId id="289" r:id="rId12"/>
    <p:sldId id="291" r:id="rId13"/>
    <p:sldId id="290" r:id="rId14"/>
    <p:sldId id="292" r:id="rId15"/>
    <p:sldId id="293" r:id="rId16"/>
    <p:sldId id="294" r:id="rId17"/>
    <p:sldId id="296" r:id="rId18"/>
    <p:sldId id="298" r:id="rId19"/>
    <p:sldId id="297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DC598-686A-4CFD-A52A-ACB9F6F487F3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555FC-3511-4525-83D4-0709B7A1B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8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Maximum heart rate.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Entropy</a:t>
            </a:r>
            <a:r>
              <a:rPr lang="en-US" baseline="0" dirty="0"/>
              <a:t> means disorder. Minimum description length- compression/fewer bits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ST- depression induced by exercise relative to rest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9555FC-3511-4525-83D4-0709B7A1B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5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Maximum heart rate.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Entropy</a:t>
            </a:r>
            <a:r>
              <a:rPr lang="en-US" baseline="0" dirty="0"/>
              <a:t> means disorder. Minimum description length- compression/fewer bits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ST- depression induced by exercise relative to rest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9555FC-3511-4525-83D4-0709B7A1B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Maximum heart rate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9555FC-3511-4525-83D4-0709B7A1B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89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1DFBECB-9259-4D1F-B452-BBC401D9A4B5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FB7AF3C-85C1-42CC-B0A8-D50AA62FA2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928"/>
          <a:stretch/>
        </p:blipFill>
        <p:spPr>
          <a:xfrm>
            <a:off x="457200" y="1219200"/>
            <a:ext cx="8392431" cy="467403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 </a:t>
            </a:r>
            <a:r>
              <a:rPr lang="en-US" b="1" dirty="0"/>
              <a:t>identifiers</a:t>
            </a:r>
            <a:r>
              <a:rPr lang="en-US" dirty="0"/>
              <a:t> or </a:t>
            </a:r>
            <a:r>
              <a:rPr lang="en-US" b="1" dirty="0"/>
              <a:t>labels</a:t>
            </a:r>
            <a:r>
              <a:rPr lang="en-US" dirty="0"/>
              <a:t> that have no numerical meaning </a:t>
            </a:r>
            <a:r>
              <a:rPr lang="en-US" dirty="0" err="1"/>
              <a:t>ie</a:t>
            </a:r>
            <a:r>
              <a:rPr lang="en-US" dirty="0"/>
              <a:t>. Not numbers.</a:t>
            </a:r>
          </a:p>
          <a:p>
            <a:r>
              <a:rPr lang="en-US" b="1" dirty="0"/>
              <a:t>Nominal data types- </a:t>
            </a:r>
            <a:r>
              <a:rPr lang="en-US" dirty="0"/>
              <a:t>Used to label variables without any order or quantitative value, for example, a person’s occupation (teacher, doctor, plumber).</a:t>
            </a:r>
          </a:p>
          <a:p>
            <a:r>
              <a:rPr lang="en-US" b="1" dirty="0"/>
              <a:t>Ordinal data types </a:t>
            </a:r>
            <a:r>
              <a:rPr lang="en-US" dirty="0"/>
              <a:t>–Have a natural ordering, for example, the grade in an exam (</a:t>
            </a:r>
            <a:r>
              <a:rPr lang="en-US" dirty="0" err="1"/>
              <a:t>eg</a:t>
            </a:r>
            <a:r>
              <a:rPr lang="en-US" dirty="0"/>
              <a:t>. A, B, C,D or F)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CATEGORICAL DATA/QUALITATIVE</a:t>
            </a:r>
          </a:p>
        </p:txBody>
      </p:sp>
    </p:spTree>
    <p:extLst>
      <p:ext uri="{BB962C8B-B14F-4D97-AF65-F5344CB8AC3E}">
        <p14:creationId xmlns:p14="http://schemas.microsoft.com/office/powerpoint/2010/main" val="2442846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5148072"/>
          </a:xfrm>
        </p:spPr>
        <p:txBody>
          <a:bodyPr>
            <a:normAutofit/>
          </a:bodyPr>
          <a:lstStyle/>
          <a:p>
            <a:r>
              <a:rPr lang="en-US" dirty="0"/>
              <a:t>Have a natural order and the numbers represent some quantity. </a:t>
            </a:r>
          </a:p>
          <a:p>
            <a:r>
              <a:rPr lang="en-US" b="1" dirty="0"/>
              <a:t>Discrete data- </a:t>
            </a:r>
            <a:r>
              <a:rPr lang="en-US" dirty="0"/>
              <a:t>Countable, finite. It </a:t>
            </a:r>
            <a:r>
              <a:rPr lang="en-US" b="1" dirty="0"/>
              <a:t>is</a:t>
            </a:r>
            <a:r>
              <a:rPr lang="en-US" dirty="0"/>
              <a:t> known in advance exactly which values the data may take, </a:t>
            </a:r>
            <a:r>
              <a:rPr lang="en-US" dirty="0" err="1"/>
              <a:t>eg</a:t>
            </a:r>
            <a:r>
              <a:rPr lang="en-US" dirty="0"/>
              <a:t>. Cost of an item, number of students (0,1,2,3---40). </a:t>
            </a:r>
          </a:p>
          <a:p>
            <a:r>
              <a:rPr lang="en-US" dirty="0"/>
              <a:t>Discrete data often arise from </a:t>
            </a:r>
            <a:r>
              <a:rPr lang="en-US" b="1" dirty="0"/>
              <a:t>counting</a:t>
            </a:r>
            <a:r>
              <a:rPr lang="en-US" dirty="0"/>
              <a:t> processes.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NUMERICAL DATA/QUANTITATIVE</a:t>
            </a:r>
          </a:p>
        </p:txBody>
      </p:sp>
    </p:spTree>
    <p:extLst>
      <p:ext uri="{BB962C8B-B14F-4D97-AF65-F5344CB8AC3E}">
        <p14:creationId xmlns:p14="http://schemas.microsoft.com/office/powerpoint/2010/main" val="38143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5148072"/>
          </a:xfrm>
        </p:spPr>
        <p:txBody>
          <a:bodyPr>
            <a:normAutofit/>
          </a:bodyPr>
          <a:lstStyle/>
          <a:p>
            <a:r>
              <a:rPr lang="en-US" b="1" dirty="0"/>
              <a:t>Continuous data </a:t>
            </a:r>
            <a:r>
              <a:rPr lang="en-US" dirty="0"/>
              <a:t>–Represents information that can be divided into smaller levels. </a:t>
            </a:r>
          </a:p>
          <a:p>
            <a:r>
              <a:rPr lang="en-US" dirty="0"/>
              <a:t>The continuous variable can take any value within a range, for example, the weights of rugby players can be 80-140kg.</a:t>
            </a:r>
          </a:p>
          <a:p>
            <a:r>
              <a:rPr lang="en-US" dirty="0"/>
              <a:t>Continuous data arise from </a:t>
            </a:r>
            <a:r>
              <a:rPr lang="en-US" b="1" dirty="0"/>
              <a:t>measurements</a:t>
            </a:r>
            <a:r>
              <a:rPr lang="en-US" dirty="0"/>
              <a:t> </a:t>
            </a:r>
            <a:r>
              <a:rPr lang="en-US" dirty="0" err="1"/>
              <a:t>eg</a:t>
            </a:r>
            <a:r>
              <a:rPr lang="en-US" dirty="0"/>
              <a:t>. Temperature, height, width, speed.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NUMERICAL DATA/QUANTITATIVE Contd.</a:t>
            </a:r>
          </a:p>
        </p:txBody>
      </p:sp>
    </p:spTree>
    <p:extLst>
      <p:ext uri="{BB962C8B-B14F-4D97-AF65-F5344CB8AC3E}">
        <p14:creationId xmlns:p14="http://schemas.microsoft.com/office/powerpoint/2010/main" val="3741739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DISCRETIZE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1480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Data discretization is a method of converting attributes values of </a:t>
            </a:r>
            <a:r>
              <a:rPr lang="en-US" b="1" dirty="0"/>
              <a:t>continuous</a:t>
            </a:r>
            <a:r>
              <a:rPr lang="en-US" dirty="0"/>
              <a:t> data into a </a:t>
            </a:r>
            <a:r>
              <a:rPr lang="en-US" b="1" dirty="0"/>
              <a:t>finite</a:t>
            </a:r>
            <a:r>
              <a:rPr lang="en-US" dirty="0"/>
              <a:t> set of intervals with minimum data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DISCRETIZE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334000"/>
          </a:xfrm>
        </p:spPr>
        <p:txBody>
          <a:bodyPr>
            <a:normAutofit/>
          </a:bodyPr>
          <a:lstStyle/>
          <a:p>
            <a:r>
              <a:rPr lang="en-US" dirty="0"/>
              <a:t>Binning is based on a specified number of bins.</a:t>
            </a:r>
          </a:p>
          <a:p>
            <a:r>
              <a:rPr lang="en-US" dirty="0"/>
              <a:t>This is used as discretization methods for data reduction and concept hierarchy generation. </a:t>
            </a:r>
          </a:p>
          <a:p>
            <a:r>
              <a:rPr lang="en-US" dirty="0"/>
              <a:t>For example, attribute values can be discretized by </a:t>
            </a:r>
            <a:r>
              <a:rPr lang="en-US" b="1" dirty="0"/>
              <a:t>distributing the values </a:t>
            </a:r>
            <a:r>
              <a:rPr lang="en-US" dirty="0"/>
              <a:t>into </a:t>
            </a:r>
            <a:r>
              <a:rPr lang="en-US" b="1" dirty="0"/>
              <a:t>bins</a:t>
            </a:r>
            <a:r>
              <a:rPr lang="en-US" dirty="0"/>
              <a:t> and replacing each bin by the mean bin value or bin median value. </a:t>
            </a:r>
          </a:p>
        </p:txBody>
      </p:sp>
    </p:spTree>
    <p:extLst>
      <p:ext uri="{BB962C8B-B14F-4D97-AF65-F5344CB8AC3E}">
        <p14:creationId xmlns:p14="http://schemas.microsoft.com/office/powerpoint/2010/main" val="259653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DISCRETIZE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and disadvantages of data discretization</a:t>
            </a:r>
          </a:p>
        </p:txBody>
      </p:sp>
    </p:spTree>
    <p:extLst>
      <p:ext uri="{BB962C8B-B14F-4D97-AF65-F5344CB8AC3E}">
        <p14:creationId xmlns:p14="http://schemas.microsoft.com/office/powerpoint/2010/main" val="409369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should be accurate, complete, consistent, timely, believable and interpretable. </a:t>
            </a:r>
          </a:p>
          <a:p>
            <a:r>
              <a:rPr lang="en-US" dirty="0"/>
              <a:t>Data wrangling is </a:t>
            </a:r>
            <a:r>
              <a:rPr lang="en-US" b="1" dirty="0"/>
              <a:t>the process of converting raw data into a usable form</a:t>
            </a:r>
            <a:r>
              <a:rPr lang="en-US" dirty="0"/>
              <a:t>. It may also be called data munging or data remediation. </a:t>
            </a:r>
          </a:p>
          <a:p>
            <a:r>
              <a:rPr lang="en-US" dirty="0"/>
              <a:t>Inaccurate, incomplete and inconsistent data are commonplace properties of large real-world databases and data warehouses.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6396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Inaccurate</a:t>
            </a:r>
            <a:r>
              <a:rPr lang="en-US" dirty="0"/>
              <a:t>, </a:t>
            </a:r>
            <a:r>
              <a:rPr lang="en-US" b="1" dirty="0"/>
              <a:t>incomplete</a:t>
            </a:r>
            <a:r>
              <a:rPr lang="en-US" dirty="0"/>
              <a:t> and </a:t>
            </a:r>
            <a:r>
              <a:rPr lang="en-US" b="1" dirty="0"/>
              <a:t>inconsistent</a:t>
            </a:r>
            <a:r>
              <a:rPr lang="en-US" dirty="0"/>
              <a:t> data are commonplace properties of large real-world databases and data warehouses.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PREPROCESSING Contd.</a:t>
            </a:r>
          </a:p>
        </p:txBody>
      </p:sp>
    </p:spTree>
    <p:extLst>
      <p:ext uri="{BB962C8B-B14F-4D97-AF65-F5344CB8AC3E}">
        <p14:creationId xmlns:p14="http://schemas.microsoft.com/office/powerpoint/2010/main" val="259217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224272"/>
          </a:xfrm>
        </p:spPr>
        <p:txBody>
          <a:bodyPr>
            <a:normAutofit/>
          </a:bodyPr>
          <a:lstStyle/>
          <a:p>
            <a:r>
              <a:rPr lang="en-US" b="1" dirty="0"/>
              <a:t>Inaccurate or noisy data </a:t>
            </a:r>
            <a:r>
              <a:rPr lang="en-US" dirty="0"/>
              <a:t>– Contains errors, or values that deviate from the expected.</a:t>
            </a:r>
          </a:p>
          <a:p>
            <a:r>
              <a:rPr lang="en-US" dirty="0"/>
              <a:t>Causes: Data collection instruments may be faulty.</a:t>
            </a:r>
          </a:p>
          <a:p>
            <a:r>
              <a:rPr lang="en-US" dirty="0"/>
              <a:t>Human or computer errors occurring at data entry</a:t>
            </a:r>
          </a:p>
          <a:p>
            <a:r>
              <a:rPr lang="en-US" dirty="0"/>
              <a:t>Users may purposely submit incorrect data values for mandatory fields when they do not wish to submit personal information. </a:t>
            </a:r>
          </a:p>
          <a:p>
            <a:r>
              <a:rPr lang="en-US" dirty="0"/>
              <a:t>Inconsistencies in naming conventions and data codes.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PREPROCESSING Contd.</a:t>
            </a:r>
          </a:p>
        </p:txBody>
      </p:sp>
    </p:spTree>
    <p:extLst>
      <p:ext uri="{BB962C8B-B14F-4D97-AF65-F5344CB8AC3E}">
        <p14:creationId xmlns:p14="http://schemas.microsoft.com/office/powerpoint/2010/main" val="4005004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22427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Incomplete data </a:t>
            </a:r>
            <a:r>
              <a:rPr lang="en-US" dirty="0"/>
              <a:t>– </a:t>
            </a:r>
            <a:r>
              <a:rPr lang="en-US" sz="2900" dirty="0"/>
              <a:t>lacks attribute values or certain attributes of interest, or contain only aggregate data. </a:t>
            </a:r>
          </a:p>
          <a:p>
            <a:r>
              <a:rPr lang="en-US" sz="2900" dirty="0"/>
              <a:t>Causes:</a:t>
            </a:r>
          </a:p>
          <a:p>
            <a:r>
              <a:rPr lang="en-US" sz="2900" dirty="0"/>
              <a:t>Attributes of interest may not always be available, such as customer information for sales transaction data. </a:t>
            </a:r>
          </a:p>
          <a:p>
            <a:r>
              <a:rPr lang="en-US" sz="2900" dirty="0"/>
              <a:t>Other data may not be included because they were not considered important at the time of entry.</a:t>
            </a:r>
          </a:p>
          <a:p>
            <a:r>
              <a:rPr lang="en-US" sz="2900" dirty="0"/>
              <a:t>Relevant data may not be recorded due to a misunderstanding or because of equipment malfunctions.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PREPROCESSING Contd.</a:t>
            </a:r>
          </a:p>
        </p:txBody>
      </p:sp>
    </p:spTree>
    <p:extLst>
      <p:ext uri="{BB962C8B-B14F-4D97-AF65-F5344CB8AC3E}">
        <p14:creationId xmlns:p14="http://schemas.microsoft.com/office/powerpoint/2010/main" val="806409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Inconsistent data </a:t>
            </a:r>
            <a:r>
              <a:rPr lang="en-US" dirty="0"/>
              <a:t>– contains discrepancies in the department coded used to categorize items.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PREPROCESSING Contd.</a:t>
            </a:r>
          </a:p>
        </p:txBody>
      </p:sp>
    </p:spTree>
    <p:extLst>
      <p:ext uri="{BB962C8B-B14F-4D97-AF65-F5344CB8AC3E}">
        <p14:creationId xmlns:p14="http://schemas.microsoft.com/office/powerpoint/2010/main" val="3352905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5300472"/>
          </a:xfrm>
        </p:spPr>
        <p:txBody>
          <a:bodyPr>
            <a:normAutofit fontScale="92500"/>
          </a:bodyPr>
          <a:lstStyle/>
          <a:p>
            <a:r>
              <a:rPr lang="en-US" dirty="0"/>
              <a:t>Data </a:t>
            </a:r>
            <a:r>
              <a:rPr lang="en-US" b="1" dirty="0"/>
              <a:t>cleaning</a:t>
            </a:r>
            <a:r>
              <a:rPr lang="en-US" dirty="0"/>
              <a:t> routines attempt to fill in missing values, smooth out noise while identifying outliers, and correct inconsistencies in the data. </a:t>
            </a:r>
          </a:p>
          <a:p>
            <a:endParaRPr lang="en-US" dirty="0"/>
          </a:p>
          <a:p>
            <a:pPr marL="624078" indent="-514350">
              <a:buFont typeface="+mj-lt"/>
              <a:buAutoNum type="arabicPeriod"/>
            </a:pPr>
            <a:r>
              <a:rPr lang="en-US" sz="2800" dirty="0"/>
              <a:t>Missing values- for examples, some tuples may have no recorded value for some attributes. </a:t>
            </a:r>
          </a:p>
          <a:p>
            <a:pPr lvl="1"/>
            <a:r>
              <a:rPr lang="en-US" sz="2800" dirty="0"/>
              <a:t>Ignore the tuple- not very effective unless the tuple contains several attributes with missing values. </a:t>
            </a:r>
          </a:p>
          <a:p>
            <a:pPr lvl="1"/>
            <a:r>
              <a:rPr lang="en-US" sz="2800" dirty="0"/>
              <a:t>Fill in the missing value manually- time consuming; may not be feasible for large datasets. </a:t>
            </a:r>
          </a:p>
          <a:p>
            <a:pPr marL="624078" indent="-514350">
              <a:buFont typeface="+mj-lt"/>
              <a:buAutoNum type="arabicPeriod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364617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53004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endParaRPr lang="en-US" dirty="0"/>
          </a:p>
          <a:p>
            <a:pPr lvl="1"/>
            <a:r>
              <a:rPr lang="en-US" sz="2800" dirty="0"/>
              <a:t>Use a global constant to fill in the missing value- </a:t>
            </a:r>
            <a:r>
              <a:rPr lang="en-US" sz="2800" dirty="0" err="1"/>
              <a:t>eg</a:t>
            </a:r>
            <a:r>
              <a:rPr lang="en-US" sz="2800" dirty="0"/>
              <a:t>. “Unknown”</a:t>
            </a:r>
          </a:p>
          <a:p>
            <a:pPr lvl="1"/>
            <a:r>
              <a:rPr lang="en-US" sz="2800" dirty="0"/>
              <a:t>Use a measure of central tendency for the attribute- (mean for symmetric data- regular interval</a:t>
            </a:r>
          </a:p>
          <a:p>
            <a:pPr marL="393192" lvl="1" indent="0">
              <a:buNone/>
            </a:pPr>
            <a:r>
              <a:rPr lang="en-US" sz="2800" dirty="0"/>
              <a:t>   or median for skewed data distribution)</a:t>
            </a:r>
          </a:p>
          <a:p>
            <a:pPr lvl="1"/>
            <a:r>
              <a:rPr lang="en-US" sz="2800" dirty="0"/>
              <a:t>Use the most probable value to fill in the missing value- determined with regression or inference based tools or decision trees. </a:t>
            </a:r>
          </a:p>
          <a:p>
            <a:pPr marL="624078" indent="-514350">
              <a:buFont typeface="+mj-lt"/>
              <a:buAutoNum type="arabicPeriod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CLEANING- Contd. </a:t>
            </a:r>
          </a:p>
        </p:txBody>
      </p:sp>
    </p:spTree>
    <p:extLst>
      <p:ext uri="{BB962C8B-B14F-4D97-AF65-F5344CB8AC3E}">
        <p14:creationId xmlns:p14="http://schemas.microsoft.com/office/powerpoint/2010/main" val="2746702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53004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2. Noisy data- Noise is a random error or variance in a measured variable. Smoothing methods include:</a:t>
            </a:r>
          </a:p>
          <a:p>
            <a:pPr marL="624078" indent="-514350">
              <a:buFont typeface="+mj-lt"/>
              <a:buAutoNum type="alphaLcParenR"/>
            </a:pPr>
            <a:r>
              <a:rPr lang="en-US" b="1" dirty="0"/>
              <a:t>Binning</a:t>
            </a:r>
            <a:r>
              <a:rPr lang="en-US" dirty="0"/>
              <a:t> – the sorted values are distributed into a number of “buckets” or “bins”.</a:t>
            </a:r>
          </a:p>
          <a:p>
            <a:pPr marL="624078" indent="-514350">
              <a:buFont typeface="+mj-lt"/>
              <a:buAutoNum type="alphaLcParenR"/>
            </a:pPr>
            <a:r>
              <a:rPr lang="en-US" b="1" dirty="0"/>
              <a:t>Regression</a:t>
            </a:r>
            <a:r>
              <a:rPr lang="en-US" dirty="0"/>
              <a:t> – Data can be smoothed by fitting the data to a function, such as regression. Linear regression involves finding the “best” line to fit two attributes (or variables), so that one attribute can be used to predict the other.</a:t>
            </a:r>
          </a:p>
          <a:p>
            <a:pPr marL="624078" indent="-514350">
              <a:buFont typeface="+mj-lt"/>
              <a:buAutoNum type="alphaLcParenR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CLEANING- Contd. </a:t>
            </a:r>
          </a:p>
        </p:txBody>
      </p:sp>
    </p:spTree>
    <p:extLst>
      <p:ext uri="{BB962C8B-B14F-4D97-AF65-F5344CB8AC3E}">
        <p14:creationId xmlns:p14="http://schemas.microsoft.com/office/powerpoint/2010/main" val="2853511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53004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2. Noisy data- Noise is a random error or variance in a measured variable. Smoothing methods include:</a:t>
            </a:r>
          </a:p>
          <a:p>
            <a:pPr marL="624078" indent="-514350">
              <a:buFont typeface="+mj-lt"/>
              <a:buAutoNum type="alphaLcParenR" startAt="3"/>
            </a:pPr>
            <a:r>
              <a:rPr lang="en-US" b="1" dirty="0"/>
              <a:t>Clustering-</a:t>
            </a:r>
            <a:r>
              <a:rPr lang="en-US" dirty="0"/>
              <a:t> Outliers may be detected by clustering, where </a:t>
            </a:r>
            <a:r>
              <a:rPr lang="en-US" b="1" dirty="0"/>
              <a:t>similar</a:t>
            </a:r>
            <a:r>
              <a:rPr lang="en-US" dirty="0"/>
              <a:t> values are organized into “groups or clusters”. Values that fall outside of the set of clusters may be considered outliers. </a:t>
            </a:r>
          </a:p>
          <a:p>
            <a:pPr marL="624078" indent="-514350">
              <a:buFont typeface="+mj-lt"/>
              <a:buAutoNum type="alphaLcParenR" startAt="3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CLEANING- Contd. </a:t>
            </a:r>
          </a:p>
        </p:txBody>
      </p:sp>
    </p:spTree>
    <p:extLst>
      <p:ext uri="{BB962C8B-B14F-4D97-AF65-F5344CB8AC3E}">
        <p14:creationId xmlns:p14="http://schemas.microsoft.com/office/powerpoint/2010/main" val="2536464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53004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3. Outlier detection and handling</a:t>
            </a:r>
          </a:p>
          <a:p>
            <a:r>
              <a:rPr lang="en-US" dirty="0"/>
              <a:t>Outliers, data points that deviate significantly from the majority, can distort analytical results.</a:t>
            </a:r>
          </a:p>
          <a:p>
            <a:r>
              <a:rPr lang="en-US" dirty="0"/>
              <a:t> The preprocessing phase includes techniques for detecting and handling outliers. Identification methods such as </a:t>
            </a:r>
            <a:r>
              <a:rPr lang="en-US" b="1" dirty="0"/>
              <a:t>statistical measures </a:t>
            </a:r>
            <a:r>
              <a:rPr lang="en-US" dirty="0"/>
              <a:t>or </a:t>
            </a:r>
            <a:r>
              <a:rPr lang="en-US" b="1" dirty="0"/>
              <a:t>machine learning algorithms </a:t>
            </a:r>
            <a:r>
              <a:rPr lang="en-US" dirty="0"/>
              <a:t>help pinpoint irregularities. </a:t>
            </a:r>
          </a:p>
          <a:p>
            <a:pPr marL="624078" indent="-514350">
              <a:buFont typeface="+mj-lt"/>
              <a:buAutoNum type="alphaLcParenR" startAt="3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CLEANING- Contd. </a:t>
            </a:r>
          </a:p>
        </p:txBody>
      </p:sp>
    </p:spTree>
    <p:extLst>
      <p:ext uri="{BB962C8B-B14F-4D97-AF65-F5344CB8AC3E}">
        <p14:creationId xmlns:p14="http://schemas.microsoft.com/office/powerpoint/2010/main" val="3064247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53004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endParaRPr lang="en-US" dirty="0"/>
          </a:p>
          <a:p>
            <a:r>
              <a:rPr lang="en-US" dirty="0"/>
              <a:t>Once identified, outliers can be addressed through various approaches including removal, transformation or imputation (assigning values), depending on the nature of the data and the specific analysis goals. </a:t>
            </a:r>
          </a:p>
          <a:p>
            <a:pPr marL="624078" indent="-514350">
              <a:buFont typeface="+mj-lt"/>
              <a:buAutoNum type="alphaLcParenR" startAt="3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  <a:p>
            <a:pPr marL="624078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CLEANING- Contd. </a:t>
            </a:r>
          </a:p>
        </p:txBody>
      </p:sp>
    </p:spTree>
    <p:extLst>
      <p:ext uri="{BB962C8B-B14F-4D97-AF65-F5344CB8AC3E}">
        <p14:creationId xmlns:p14="http://schemas.microsoft.com/office/powerpoint/2010/main" val="2333899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lvl="0" indent="-514350">
              <a:buFont typeface="+mj-lt"/>
              <a:buAutoNum type="arabicPeriod"/>
            </a:pPr>
            <a:r>
              <a:rPr lang="en-US" dirty="0"/>
              <a:t>Han J. &amp; </a:t>
            </a:r>
            <a:r>
              <a:rPr lang="en-US" dirty="0" err="1"/>
              <a:t>Kamber</a:t>
            </a:r>
            <a:r>
              <a:rPr lang="en-US" dirty="0"/>
              <a:t> M. (2006). Data Mining: Concepts and Techniques. 2</a:t>
            </a:r>
            <a:r>
              <a:rPr lang="en-US" baseline="30000" dirty="0"/>
              <a:t>nd</a:t>
            </a:r>
            <a:r>
              <a:rPr lang="en-US" dirty="0"/>
              <a:t> Edition. Elsevier Inc. </a:t>
            </a:r>
          </a:p>
          <a:p>
            <a:pPr marL="624078" lvl="0" indent="-514350">
              <a:buFont typeface="+mj-lt"/>
              <a:buAutoNum type="arabicPeriod"/>
            </a:pPr>
            <a:r>
              <a:rPr lang="en-US" dirty="0"/>
              <a:t>2. Whig P, Sharma S, Sharma </a:t>
            </a:r>
            <a:r>
              <a:rPr lang="en-US" dirty="0" err="1"/>
              <a:t>Sachinn</a:t>
            </a:r>
            <a:r>
              <a:rPr lang="en-US" dirty="0"/>
              <a:t>, </a:t>
            </a:r>
            <a:r>
              <a:rPr lang="en-US" dirty="0" err="1"/>
              <a:t>Seema</a:t>
            </a:r>
            <a:r>
              <a:rPr lang="en-US" dirty="0"/>
              <a:t>,  Jain A, &amp; </a:t>
            </a:r>
            <a:r>
              <a:rPr lang="en-US" dirty="0" err="1"/>
              <a:t>Yathiraju</a:t>
            </a:r>
            <a:r>
              <a:rPr lang="en-US" dirty="0"/>
              <a:t> N. Practical Applications of Data Processing, Algorithms, and Modeling. IGI Global.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3468</TotalTime>
  <Words>1002</Words>
  <Application>Microsoft Office PowerPoint</Application>
  <PresentationFormat>On-screen Show (4:3)</PresentationFormat>
  <Paragraphs>85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Lucida Sans Unicode</vt:lpstr>
      <vt:lpstr>Verdana</vt:lpstr>
      <vt:lpstr>Wingdings 2</vt:lpstr>
      <vt:lpstr>Wingdings 3</vt:lpstr>
      <vt:lpstr>Concourse</vt:lpstr>
      <vt:lpstr>DATA</vt:lpstr>
      <vt:lpstr>TYPES OF DATA</vt:lpstr>
      <vt:lpstr>CATEGORICAL DATA/QUALITATIVE</vt:lpstr>
      <vt:lpstr>NUMERICAL DATA/QUANTITATIVE</vt:lpstr>
      <vt:lpstr>NUMERICAL DATA/QUANTITATIVE Contd.</vt:lpstr>
      <vt:lpstr>DISCRETIZE</vt:lpstr>
      <vt:lpstr>DISCRETIZE</vt:lpstr>
      <vt:lpstr>DISCRETIZE</vt:lpstr>
      <vt:lpstr>DATA PREPROCESSING</vt:lpstr>
      <vt:lpstr>DATA PREPROCESSING Contd.</vt:lpstr>
      <vt:lpstr>DATA PREPROCESSING Contd.</vt:lpstr>
      <vt:lpstr>DATA PREPROCESSING Contd.</vt:lpstr>
      <vt:lpstr>DATA PREPROCESSING Contd.</vt:lpstr>
      <vt:lpstr>DATA CLEANING</vt:lpstr>
      <vt:lpstr>DATA CLEANING- Contd. </vt:lpstr>
      <vt:lpstr>DATA CLEANING- Contd. </vt:lpstr>
      <vt:lpstr>DATA CLEANING- Contd. </vt:lpstr>
      <vt:lpstr>DATA CLEANING- Contd. </vt:lpstr>
      <vt:lpstr>DATA CLEANING- Contd.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 REENGINEERING</dc:title>
  <dc:creator>Mish</dc:creator>
  <cp:lastModifiedBy>Star</cp:lastModifiedBy>
  <cp:revision>111</cp:revision>
  <dcterms:created xsi:type="dcterms:W3CDTF">2021-02-01T18:40:23Z</dcterms:created>
  <dcterms:modified xsi:type="dcterms:W3CDTF">2025-02-11T08:17:33Z</dcterms:modified>
</cp:coreProperties>
</file>